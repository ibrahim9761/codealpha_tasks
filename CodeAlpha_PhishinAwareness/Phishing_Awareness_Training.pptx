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920240"/>
            <a:ext cx="5120640" cy="512064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3474720" cy="347472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SECURITY AWARENESS PROGRAM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Training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 Engineering Attacks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1E3049"/>
          </a:solidFill>
          <a:ln/>
        </p:spPr>
      </p:sp>
      <p:pic>
        <p:nvPicPr>
          <p:cNvPr id="8" name="Image 0" descr="/home/claude/phishing_training/icons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9926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4937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Ibrahim  ·  CodeAlpha Internship Program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CodeAlpha  ·  August 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TRAINING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32888"/>
            <a:ext cx="10881360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Threat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phishing and its business impact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84448"/>
            <a:ext cx="10881360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017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 Attack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websites, and social engineering tactics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36008"/>
            <a:ext cx="10881360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069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in Practice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attack scenarios examined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687568"/>
            <a:ext cx="10881360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0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Assessment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a short knowledge check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Threat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phishing is, and why it remains the leading cause of breaches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UNDERSTANDING THE THREAT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form of social engineering in which an attacker impersonates a trusted person or organization — a bank, a colleague, a delivery service — to obtain credentials, financial information, or unauthorized system access.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breaching encryption or firewalls, phishing exploits human judgment under pressure. For this reason, employee awareness is one of the most effective controls an organization can deploy.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7830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052560" y="1947672"/>
            <a:ext cx="27432" cy="731520"/>
          </a:xfrm>
          <a:prstGeom prst="rect">
            <a:avLst/>
          </a:prstGeom>
          <a:solidFill>
            <a:srgbClr val="A9862F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0" y="17830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are sent worldwide every 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315468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3246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052560" y="3410712"/>
            <a:ext cx="27432" cy="731520"/>
          </a:xfrm>
          <a:prstGeom prst="rect">
            <a:avLst/>
          </a:prstGeom>
          <a:solidFill>
            <a:srgbClr val="A9862F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32461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involve a phishing component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461772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4709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1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52560" y="4873752"/>
            <a:ext cx="27432" cy="731520"/>
          </a:xfrm>
          <a:prstGeom prst="rect">
            <a:avLst/>
          </a:prstGeom>
          <a:solidFill>
            <a:srgbClr val="A9862F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47091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corporate network intrusions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an Attack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phishing emails, fraudulent websites, and manipulation tactics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· RECOGNIZING AN ATTACK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message can carry several warning signs at once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309360" cy="4526280"/>
          </a:xfrm>
          <a:prstGeom prst="roundRect">
            <a:avLst>
              <a:gd name="adj" fmla="val 1010"/>
            </a:avLst>
          </a:prstGeom>
          <a:solidFill>
            <a:srgbClr val="F2F3F5"/>
          </a:solidFill>
          <a:ln w="12700">
            <a:solidFill>
              <a:srgbClr val="DD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6309360" cy="365760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01952"/>
            <a:ext cx="118872" cy="118872"/>
          </a:xfrm>
          <a:prstGeom prst="ellipse">
            <a:avLst/>
          </a:prstGeom>
          <a:solidFill>
            <a:srgbClr val="C7CBD1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901952"/>
            <a:ext cx="118872" cy="118872"/>
          </a:xfrm>
          <a:prstGeom prst="ellipse">
            <a:avLst/>
          </a:prstGeom>
          <a:solidFill>
            <a:srgbClr val="C7CBD1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C7CBD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58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IT-Support@yourcompany-help.net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87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mailbox will be suspended in 24 hours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2569464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9169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282696"/>
            <a:ext cx="5943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4728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3447288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1421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Click below immediately to verify your identity or your access will be permanently revoked.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4014216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58114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&gt;&gt;  http://yourcompany-secure-login.verify-account.ru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4581144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581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1480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Failor to comply will result in account suspention within 24 hrs.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5148072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178308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172821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closely mimics the real one (yourcompany-help.net, not yourcompany.com)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69480" y="2542032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248716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intended to short-circuit careful review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3300984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324612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 place of the recipient's actual name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69480" y="4059936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0960" y="400507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pressure to act immediately or lose access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269480" y="4818888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4764024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conceals its true destination — always hover before clicking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69480" y="557784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46" name="Text 44"/>
          <p:cNvSpPr/>
          <p:nvPr/>
        </p:nvSpPr>
        <p:spPr>
          <a:xfrm>
            <a:off x="726948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552297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errors inconsistent with official communications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· RECOGNIZING AN ATTACK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a Fraudulent Website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replicate legitimate login pages almost exactly — the address bar is the giveaway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94360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5875">
            <a:solidFill>
              <a:srgbClr val="DD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943600" cy="420624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29384"/>
            <a:ext cx="557784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47672"/>
            <a:ext cx="201168" cy="201168"/>
          </a:xfrm>
          <a:prstGeom prst="ellipse">
            <a:avLst/>
          </a:prstGeom>
          <a:solidFill>
            <a:srgbClr val="E4E6EB"/>
          </a:solidFill>
          <a:ln/>
        </p:spPr>
      </p:sp>
      <p:pic>
        <p:nvPicPr>
          <p:cNvPr id="9" name="Image 0" descr="/home/claude/phishing_training/icons/eyeoff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9293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http://yourbank-secure-login.account-verify.ru/signin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249424"/>
            <a:ext cx="5943600" cy="3785616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YourBank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your account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3291840"/>
            <a:ext cx="5212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05840" y="3749040"/>
            <a:ext cx="5212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5840" y="42519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251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05840" y="49377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padlock. Slightly altered logo and layout. A domain designed to imitate a trusted brand.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0" y="1828800"/>
            <a:ext cx="347472" cy="347472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22" name="Image 1" descr="/home/claude/phishing_training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897380"/>
            <a:ext cx="210312" cy="2103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88352" y="17739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URL carefully for misspellings, extra words, or an unusual domain ending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903720" y="2651760"/>
            <a:ext cx="347472" cy="347472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25" name="Image 2" descr="/home/claude/phishing_training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720340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88352" y="25968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HTTPS and the padlock icon — though a padlock alone does not guarantee legitimacy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03720" y="3474720"/>
            <a:ext cx="347472" cy="347472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28" name="Image 3" descr="/home/claude/phishing_training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543300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88352" y="341985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pop-ups demanding immediate login or payment details with suspicion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903720" y="4297680"/>
            <a:ext cx="347472" cy="347472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31" name="Image 4" descr="/home/claude/phishing_training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436626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88352" y="424281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page to the genuine site — inconsistent logos, fonts, or layout are red flags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903720" y="5120640"/>
            <a:ext cx="347472" cy="347472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34" name="Image 5" descr="/home/claude/phishing_training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5189220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88352" y="5065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login pages by typing the address directly or using a saved bookmark, not an emailed link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· RECOGNIZING AN ATTACK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target human instinct before they target technology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1E304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7" name="Image 0" descr="/home/claude/phishing_training/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85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8620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within 24 hours or your account is locked.” Time pressure discourages careful verification.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1E3049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148840"/>
            <a:ext cx="594360" cy="59436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12" name="Image 1" descr="/home/claude/phishing_training/icons/author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185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8620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senior executive, IT administrator, or bank to make a request feel mandatory.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1E3049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4297680"/>
            <a:ext cx="594360" cy="59436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17" name="Image 2" descr="/home/claude/phishing_training/icons/ale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348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14400" y="50109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disciplinary action, or legal consequence drive victims to react rather than verify.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1E3049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297680"/>
            <a:ext cx="594360" cy="59436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22" name="Image 3" descr="/home/claude/phishing_training/icons/curiosit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348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 Reward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446520" y="50109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notifications or unexpected refunds exploit temptation to prompt an impulsive click.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in Practice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documented attack patterns, examined for their mechanics and lessons learned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· CASE STUDIES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CEO Fraud (Business Email Compromise)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employee receives an email that appears to originate from the company's CEO, sent late on a Friday afternoon.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references a confidential acquisition and requests an urgent wire transfer to a “new vendor” account, emphasizing secrecy and speed.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tone and time pressure discourage the employee from raising questions about an unusual instruction.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documented incidents of this kind, organizations have transferred hundreds of thousands of dollars before the request was independently verified.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4251960" cy="4434840"/>
          </a:xfrm>
          <a:prstGeom prst="roundRect">
            <a:avLst>
              <a:gd name="adj" fmla="val 1290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Succeeded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28600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3" name="Image 0" descr="/home/claude/phishing_training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532" y="2336292"/>
            <a:ext cx="173736" cy="1737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46720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perceived authority of a senior executive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315468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6" name="Image 1" descr="/home/claude/phishing_training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3204972"/>
            <a:ext cx="173736" cy="1737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0" y="3108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urgency and secrecy to prevent verification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635240" y="402336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9" name="Image 2" descr="/home/claude/phishing_training/icon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073652"/>
            <a:ext cx="173736" cy="1737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an employee with wire-transfer authority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635240" y="489204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2" name="Image 3" descr="/home/claude/phishing_training/icons/x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4942332"/>
            <a:ext cx="173736" cy="1737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arrive when colleagues were unavailable to confirm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· CASE STUDIES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Fraudulent Delivery Notification (Smishing)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286000" cy="3977640"/>
          </a:xfrm>
          <a:prstGeom prst="roundRect">
            <a:avLst>
              <a:gd name="adj" fmla="val 8800"/>
            </a:avLst>
          </a:prstGeom>
          <a:solidFill>
            <a:srgbClr val="15223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92808"/>
            <a:ext cx="2103120" cy="3575304"/>
          </a:xfrm>
          <a:prstGeom prst="roundRect">
            <a:avLst>
              <a:gd name="adj" fmla="val 4348"/>
            </a:avLst>
          </a:prstGeom>
          <a:solidFill>
            <a:srgbClr val="FAFAFB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103120"/>
            <a:ext cx="1883664" cy="960120"/>
          </a:xfrm>
          <a:prstGeom prst="roundRect">
            <a:avLst>
              <a:gd name="adj" fmla="val 7619"/>
            </a:avLst>
          </a:prstGeom>
          <a:solidFill>
            <a:srgbClr val="E4E6EB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7627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Your package has a $2.99 customs fee due. Pay now to avoid return: bit.ly/pkg-fee29x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31546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  ·  Today 2:14 PM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3611880" cy="3977640"/>
          </a:xfrm>
          <a:prstGeom prst="roundRect">
            <a:avLst>
              <a:gd name="adj" fmla="val 1519"/>
            </a:avLst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receives a text message purporting to be from a shipping carrier, citing a small unpaid customs fee.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nominal amount feels too minor to warrant suspicion, which lowers the recipient's guard.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shortened link leads to a fraudulent payment page that captures full card details, name, and address.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by SMS rather than email, the message bypasses corporate email security filters entirely.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1691640"/>
            <a:ext cx="4480560" cy="3977640"/>
          </a:xfrm>
          <a:prstGeom prst="roundRect">
            <a:avLst>
              <a:gd name="adj" fmla="val 1379"/>
            </a:avLst>
          </a:prstGeom>
          <a:solidFill>
            <a:srgbClr val="15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Succeeded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237744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8" name="Image 0" descr="/home/claude/phishing_training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6932" y="2427732"/>
            <a:ext cx="173736" cy="1737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18120" y="23317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monetary amount signaled low risk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06640" y="324612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1" name="Image 1" descr="/home/claude/phishing_training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32" y="3296412"/>
            <a:ext cx="173736" cy="1737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32004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 link concealed the true destination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406640" y="411480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4" name="Image 2" descr="/home/claude/phishing_training/icon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4165092"/>
            <a:ext cx="173736" cy="1737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18120" y="4069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SMS, outside email security controls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406640" y="4983480"/>
            <a:ext cx="274320" cy="27432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7" name="Image 3" descr="/home/claude/phishing_training/icons/x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5033772"/>
            <a:ext cx="173736" cy="1737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18120" y="4937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Mimicked a routine, plausible event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&amp; Assessment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safeguards, followed by a short knowledge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· DEFENSE &amp; ASSESSMENT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Reduce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2098548" y="192938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6" name="Image 0" descr="/home/claude/phishing_training/icons/search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20665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243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304495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address, not merely the display name.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5847588" y="192938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11" name="Image 1" descr="/home/claude/phishing_training/icons/li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06654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243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0288" y="304495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 link's true destination before selecting it.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596628" y="192938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16" name="Image 2" descr="/home/claude/phishing_training/icons/phon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20665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243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through another channel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304495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or message the requester directly for unusual instructions.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20" name="Shape 15"/>
          <p:cNvSpPr/>
          <p:nvPr/>
        </p:nvSpPr>
        <p:spPr>
          <a:xfrm>
            <a:off x="2098548" y="430682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21" name="Image 3" descr="/home/claude/phishing_training/icons/lo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708" y="44439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017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5422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neutralizes the majority of stolen-credential attacks.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25" name="Shape 19"/>
          <p:cNvSpPr/>
          <p:nvPr/>
        </p:nvSpPr>
        <p:spPr>
          <a:xfrm>
            <a:off x="5847588" y="430682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26" name="Image 4" descr="/home/claude/phishing_training/icons/clo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44439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017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under pressure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0288" y="5422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itself a tactic — pause before responding.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2F3F5"/>
          </a:solidFill>
          <a:ln/>
        </p:spPr>
      </p:sp>
      <p:sp>
        <p:nvSpPr>
          <p:cNvPr id="30" name="Shape 23"/>
          <p:cNvSpPr/>
          <p:nvPr/>
        </p:nvSpPr>
        <p:spPr>
          <a:xfrm>
            <a:off x="9596628" y="4306824"/>
            <a:ext cx="603504" cy="603504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31" name="Image 5" descr="/home/claude/phishing_training/icons/flag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3788" y="44439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017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rather than delete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9328" y="5422392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messages to IT/Security so colleagues are alerted.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920240"/>
            <a:ext cx="5120640" cy="512064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· DEFENSE &amp; ASSESSMENT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22960" cy="822960"/>
          </a:xfrm>
          <a:prstGeom prst="ellipse">
            <a:avLst/>
          </a:prstGeom>
          <a:solidFill>
            <a:srgbClr val="1E3049"/>
          </a:solidFill>
          <a:ln/>
        </p:spPr>
      </p:sp>
      <p:pic>
        <p:nvPicPr>
          <p:cNvPr id="5" name="Image 0" descr="/home/claude/phishing_training/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scenario-based questions to confirm understanding of the concepts covered. Discuss each response before consulting the answer key.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QUESTION 1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receive an email from “Amaz0n-Support” stating your account will be closed unless you confirm your password within one hour. What should you do first?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706624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514600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and enter your password to prevent losing access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93592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3401568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requesting further details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Disregard the urgency, verify the sender's actual address, and navigate to the site directly rather than clicking the link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367528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175504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message to a colleague for a second opinion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Key follows this quiz and provides the correct response with rationale.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 — Knowledge Check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QUESTION 2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 message offers a small refund and includes a shortened link to “claim it now.” This is most likely an example of which tactic?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706624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514600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93592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3401568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 Reward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367528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175504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 — legitimate offers commonly use shortened links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Key follows this quiz and provides the correct response with rationale.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 — Knowledge Check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QUESTION 3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CEO emails requesting an urgent, confidential wire transfer to a new account and asks that it not be discussed with anyone. What is the safest response?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706624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514600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transfer promptly, given the seniority of the requester and the time pressure involved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93592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3401568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request by calling the CEO directly using a known, previously verified phone number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to request confirmation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367528"/>
            <a:ext cx="365760" cy="365760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175504"/>
            <a:ext cx="9921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request to finance without comment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Key follows this quiz and provides the correct response with rationale.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 — Knowledge Check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· DEFENSE &amp; ASSESSMENT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304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6" name="Image 0" descr="/home/claude/phishing_training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4825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—  Correct answer: 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1945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and navigate to the site independently. Urgency combined with a look-alike sender name (“Amaz0n”) is a classic phishing indicator.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27832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3049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11" name="Image 1" descr="/home/claude/phishing_training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5844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3924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—  Correct answer: B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37307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 Reward. An unexpected benefit paired with a shortened link is designed to prompt a click before careful evaluation.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764024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3049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5010912"/>
            <a:ext cx="502920" cy="50292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16" name="Image 2" descr="/home/claude/phishing_training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2064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9286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—  Correct answer: 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526694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phone using a previously known number. The combination of authority, secrecy, and urgency is characteristic of a Business Email Compromise attack.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Security Training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754880"/>
            <a:ext cx="3657600" cy="3657600"/>
          </a:xfrm>
          <a:prstGeom prst="ellipse">
            <a:avLst/>
          </a:prstGeom>
          <a:solidFill>
            <a:srgbClr val="1E30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REMARKS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1E3049"/>
          </a:solidFill>
          <a:ln/>
        </p:spPr>
      </p:sp>
      <p:pic>
        <p:nvPicPr>
          <p:cNvPr id="5" name="Image 0" descr="/home/claude/phishing_training/icons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453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Do Not Click — Report It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moment of verification can prevent an incident that takes weeks to remediate. Every reported attempt contributes to the security of the wider organization.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7863840" cy="1371600"/>
          </a:xfrm>
          <a:prstGeom prst="roundRect">
            <a:avLst>
              <a:gd name="adj" fmla="val 4000"/>
            </a:avLst>
          </a:prstGeom>
          <a:solidFill>
            <a:srgbClr val="1E3049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A9862F"/>
          </a:solidFill>
          <a:ln/>
        </p:spPr>
      </p:sp>
      <p:pic>
        <p:nvPicPr>
          <p:cNvPr id="10" name="Image 1" descr="/home/claude/phishing_training/icons/mai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46268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45537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to:  services.codealpha@gmail.com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9377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the “Report Phishing” button available in your email client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Ibrahim  ·  CodeAlpha Internship Program  ·  August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2026-08-01T21:48:54Z</dcterms:created>
  <dcterms:modified xsi:type="dcterms:W3CDTF">2026-08-01T21:48:55Z</dcterms:modified>
</cp:coreProperties>
</file>